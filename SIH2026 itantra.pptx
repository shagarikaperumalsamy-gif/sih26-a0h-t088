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C0C899-C06E-AA34-A06D-B5F8B4EC77EB}" v="9" dt="2026-08-30T10:17:12.186"/>
    <p1510:client id="{28AB1E66-666A-C2BC-90B8-D9D9CFCA8C0F}" v="35" dt="2026-08-30T09:59:45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69268" y="2060938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131030"/>
            <a:ext cx="8620664" cy="2270184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74241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/>
                <a:ea typeface="ＭＳ Ｐゴシック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5022" y="1156300"/>
            <a:ext cx="5852664" cy="5649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Problem Statement ID –</a:t>
            </a:r>
            <a:r>
              <a:rPr lang="en-US" sz="2400" b="1" dirty="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 </a:t>
            </a:r>
            <a:r>
              <a:rPr lang="en-US" sz="2400">
                <a:solidFill>
                  <a:srgbClr val="212529"/>
                </a:solidFill>
                <a:latin typeface="Calibri"/>
                <a:ea typeface="Calibri"/>
                <a:cs typeface="Calibri"/>
              </a:rPr>
              <a:t>SIH26173</a:t>
            </a:r>
            <a:endParaRPr lang="en-US">
              <a:cs typeface="Calibri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Problem Statement Title- </a:t>
            </a:r>
            <a:r>
              <a:rPr lang="en-US" sz="2000" dirty="0">
                <a:latin typeface="Calibri"/>
                <a:ea typeface="Calibri"/>
                <a:cs typeface="Calibri"/>
              </a:rPr>
              <a:t>ITantra -Indian Multilingual TTS &amp; STT Aided Neural Transceiver Radio Access for low bitrate links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Theme-</a:t>
            </a:r>
            <a:r>
              <a:rPr lang="en-US" sz="2400">
                <a:solidFill>
                  <a:srgbClr val="212529"/>
                </a:solidFill>
                <a:latin typeface="Calibri"/>
                <a:ea typeface="Calibri"/>
                <a:cs typeface="Calibri"/>
              </a:rPr>
              <a:t>Miscellaneous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PS Category- </a:t>
            </a:r>
            <a:r>
              <a:rPr lang="en-US" sz="2400">
                <a:latin typeface="Arial"/>
                <a:ea typeface="ＭＳ Ｐゴシック"/>
                <a:cs typeface="Arial"/>
              </a:rPr>
              <a:t>Software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Team ID- </a:t>
            </a:r>
            <a:r>
              <a:rPr lang="en-US" sz="2400">
                <a:latin typeface="Calibri"/>
                <a:ea typeface="Calibri"/>
                <a:cs typeface="Calibri"/>
              </a:rPr>
              <a:t>SIH26-A0H-T088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Team Name- </a:t>
            </a:r>
            <a:r>
              <a:rPr lang="en-US" sz="2400">
                <a:latin typeface="Arial"/>
                <a:ea typeface="ＭＳ Ｐゴシック"/>
                <a:cs typeface="Arial"/>
              </a:rPr>
              <a:t>INFIX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C2681C-C7CF-A7BB-625B-01A47C87E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046" y="-2723"/>
            <a:ext cx="2352676" cy="11756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91440" tIns="45720" rIns="91440" bIns="45720" anchor="ctr"/>
          <a:lstStyle/>
          <a:p>
            <a:pPr algn="ctr">
              <a:defRPr/>
            </a:pPr>
            <a:r>
              <a:rPr lang="en-US" sz="1200">
                <a:solidFill>
                  <a:srgbClr val="FFFFFF"/>
                </a:solidFill>
                <a:latin typeface="+mn-lt"/>
                <a:ea typeface="Calibri"/>
                <a:cs typeface="Calibri"/>
              </a:rPr>
              <a:t>@SIH Idea submission</a:t>
            </a: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462642"/>
            <a:ext cx="10972800" cy="1626052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dirty="0">
                <a:ea typeface="ＭＳ Ｐゴシック"/>
                <a:cs typeface="Times New Roman"/>
              </a:rPr>
              <a:t>i</a:t>
            </a:r>
            <a:r>
              <a:rPr lang="en-US" sz="3400" dirty="0">
                <a:ea typeface="ＭＳ Ｐゴシック"/>
                <a:cs typeface="Times New Roman"/>
              </a:rPr>
              <a:t>Tantra — Don’t Send Audio. Send Meaning.</a:t>
            </a:r>
            <a:endParaRPr lang="en-US" sz="3400" b="1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803" y="1314858"/>
            <a:ext cx="6572251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/>
                <a:ea typeface="ＭＳ Ｐゴシック"/>
                <a:cs typeface="Arial"/>
              </a:rPr>
              <a:t>Proposed </a:t>
            </a:r>
            <a:r>
              <a:rPr lang="en-US" sz="2000" b="1" u="sng">
                <a:solidFill>
                  <a:schemeClr val="tx2"/>
                </a:solidFill>
                <a:latin typeface="Arial"/>
                <a:ea typeface="ＭＳ Ｐゴシック"/>
                <a:cs typeface="Arial"/>
              </a:rPr>
              <a:t>solution: 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Convert</a:t>
            </a:r>
            <a:r>
              <a:rPr lang="en-US" sz="2000" dirty="0">
                <a:latin typeface="Calibri"/>
                <a:ea typeface="Calibri"/>
                <a:cs typeface="Calibri"/>
              </a:rPr>
              <a:t> speech to text, compress the language representation, transmit it over an ultra-low-bitrate link, and reconstruct natural speech at the receiver.</a:t>
            </a:r>
            <a:r>
              <a:rPr lang="en-US" sz="2000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 </a:t>
            </a:r>
            <a:endParaRPr lang="en-US" sz="2000" b="1" u="sng" dirty="0">
              <a:solidFill>
                <a:schemeClr val="tx2"/>
              </a:solidFill>
              <a:latin typeface="Arial"/>
              <a:ea typeface="ＭＳ Ｐゴシック"/>
              <a:cs typeface="Arial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How it addresses the problem</a:t>
            </a:r>
            <a:r>
              <a:rPr lang="en-US" sz="20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2000">
                <a:latin typeface="Calibri"/>
                <a:ea typeface="Calibri"/>
                <a:cs typeface="Calibri"/>
              </a:rPr>
              <a:t>HF radio, LoRa and satellite-text links may provide only hundreds of bits/s, making conventional voice transmission impractical.</a:t>
            </a:r>
            <a:endParaRPr lang="en-US" sz="2000" b="1" u="sng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Innovation &amp; uniqueness: 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Treats the problem as language communication rather than audio compression.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India-focused design: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Supports multilingual and code-mixed speech, allowing natural communication in Indian languages.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Applications: 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Disaster response • </a:t>
            </a:r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Defence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/tactical communication • Maritime safety • Rural/remote connectivity.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ea typeface="Calibri"/>
                <a:cs typeface="Calibri"/>
              </a:rPr>
              <a:t>INFIX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70AE52-E449-1E9A-4192-1AD0F2D71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053" y="1183822"/>
            <a:ext cx="5612948" cy="51366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59A683-5330-F921-26D2-263CE4F4F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2046" y="-2723"/>
            <a:ext cx="2352676" cy="11756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ea typeface="Calibri"/>
                <a:cs typeface="Calibri"/>
              </a:rPr>
              <a:t>INFIX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9D837A-31D3-DFD3-7F7E-FADDC987A1BF}"/>
              </a:ext>
            </a:extLst>
          </p:cNvPr>
          <p:cNvSpPr txBox="1"/>
          <p:nvPr/>
        </p:nvSpPr>
        <p:spPr>
          <a:xfrm>
            <a:off x="193822" y="1457545"/>
            <a:ext cx="7466682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/>
                <a:ea typeface="Calibri"/>
                <a:cs typeface="Calibri"/>
              </a:rPr>
              <a:t>1. Voice Capture → Microphone captures speech.</a:t>
            </a:r>
            <a:endParaRPr lang="en-US" sz="2400">
              <a:latin typeface="ＭＳ Ｐゴシック" pitchFamily="1" charset="-128"/>
              <a:cs typeface="Calibri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2. Speech-to-Text → Multilingual STT converts speech into text.</a:t>
            </a:r>
            <a:endParaRPr lang="en-US" sz="2400">
              <a:latin typeface="ＭＳ Ｐゴシック" pitchFamily="1" charset="-128"/>
              <a:cs typeface="Calibri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3. Compression → Text can be compressed further using compact/phonetic representation. </a:t>
            </a:r>
            <a:endParaRPr lang="en-US" sz="2400">
              <a:latin typeface="ＭＳ Ｐゴシック" pitchFamily="1" charset="-128"/>
              <a:cs typeface="Calibri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4. Error Protection → Redundancy enables detection and correction of small transmission errors. </a:t>
            </a:r>
            <a:endParaRPr lang="en-US" sz="2400">
              <a:latin typeface="ＭＳ Ｐゴシック" pitchFamily="1" charset="-128"/>
              <a:cs typeface="Calibri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5. Low-Bitrate Link → Compressed information crosses HF radio, LoRa or constrained satellite-text channels.</a:t>
            </a:r>
            <a:endParaRPr lang="en-US" sz="2400">
              <a:latin typeface="ＭＳ Ｐゴシック" pitchFamily="1" charset="-128"/>
              <a:cs typeface="Calibri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 6. Text-to-Speech → Recovered text becomes natural-sounding speech at the receiver. </a:t>
            </a:r>
            <a:endParaRPr lang="en-US" sz="2400">
              <a:latin typeface="ＭＳ Ｐゴシック" pitchFamily="1" charset="-128"/>
              <a:cs typeface="Calibri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Communication Mode: Push-to-talk / one-direction-at-a-time, reflecting low-bitrate radio limitations.</a:t>
            </a:r>
            <a:endParaRPr lang="en-US" sz="2400">
              <a:latin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2D8811-BA7D-D419-2582-D7303312A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668" y="1476376"/>
            <a:ext cx="4377414" cy="41569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A95003-8F68-D7ED-503D-1D3B40BB7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2046" y="-2723"/>
            <a:ext cx="2352676" cy="11756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</a:t>
            </a:r>
            <a:r>
              <a:rPr lang="en-US">
                <a:solidFill>
                  <a:prstClr val="white"/>
                </a:solidFill>
              </a:rPr>
              <a:t>submission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ea typeface="Calibri"/>
                <a:cs typeface="Calibri"/>
              </a:rPr>
              <a:t>INFIX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B1643-F1BA-40B8-A354-AE4D35708D9E}"/>
              </a:ext>
            </a:extLst>
          </p:cNvPr>
          <p:cNvSpPr txBox="1"/>
          <p:nvPr/>
        </p:nvSpPr>
        <p:spPr>
          <a:xfrm>
            <a:off x="331952" y="1454541"/>
            <a:ext cx="6575415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Calibri"/>
                <a:ea typeface="Calibri"/>
                <a:cs typeface="Calibri"/>
              </a:rPr>
              <a:t>Feasibility: </a:t>
            </a:r>
            <a:r>
              <a:rPr lang="en-US">
                <a:latin typeface="Calibri"/>
                <a:ea typeface="Calibri"/>
                <a:cs typeface="Calibri"/>
              </a:rPr>
              <a:t>Uses established capabilities in STT, neural TTS, language processing, compression and error correction.</a:t>
            </a:r>
            <a:endParaRPr lang="en-US">
              <a:latin typeface="ＭＳ Ｐゴシック" pitchFamily="1" charset="-128"/>
              <a:cs typeface="Calibri" pitchFamily="34" charset="0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 Deployment: </a:t>
            </a:r>
            <a:r>
              <a:rPr lang="en-US">
                <a:latin typeface="Calibri"/>
                <a:ea typeface="Calibri"/>
                <a:cs typeface="Calibri"/>
              </a:rPr>
              <a:t>Can operate as an edge/software layer connected to existing constrained radio systems.</a:t>
            </a:r>
            <a:endParaRPr lang="en-US">
              <a:latin typeface="Calibri"/>
              <a:cs typeface="Calibri" pitchFamily="34" charset="0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 </a:t>
            </a:r>
            <a:r>
              <a:rPr lang="en-US" b="1">
                <a:latin typeface="Calibri"/>
                <a:ea typeface="Calibri"/>
                <a:cs typeface="Calibri"/>
              </a:rPr>
              <a:t>Challenge — noisy speech: </a:t>
            </a:r>
            <a:r>
              <a:rPr lang="en-US">
                <a:latin typeface="Calibri"/>
                <a:ea typeface="Calibri"/>
                <a:cs typeface="Calibri"/>
              </a:rPr>
              <a:t>Noise can reduce STT accuracy.</a:t>
            </a:r>
            <a:endParaRPr lang="en-US">
              <a:latin typeface="ＭＳ Ｐゴシック" pitchFamily="1" charset="-128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 </a:t>
            </a:r>
            <a:r>
              <a:rPr lang="en-US" b="1">
                <a:latin typeface="Calibri"/>
                <a:ea typeface="Calibri"/>
                <a:cs typeface="Calibri"/>
              </a:rPr>
              <a:t>Mitigation:</a:t>
            </a:r>
            <a:r>
              <a:rPr lang="en-US">
                <a:latin typeface="Calibri"/>
                <a:ea typeface="Calibri"/>
                <a:cs typeface="Calibri"/>
              </a:rPr>
              <a:t> Noise-robust preprocessing, language-aware models, domain vocabulary and confidence scoring. </a:t>
            </a:r>
            <a:endParaRPr lang="en-US">
              <a:latin typeface="ＭＳ Ｐゴシック" pitchFamily="1" charset="-128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Challenge — channel errors:</a:t>
            </a:r>
            <a:r>
              <a:rPr lang="en-US">
                <a:latin typeface="Calibri"/>
                <a:ea typeface="Calibri"/>
                <a:cs typeface="Calibri"/>
              </a:rPr>
              <a:t> Corrupted text can alter meaning. </a:t>
            </a:r>
            <a:endParaRPr lang="en-US">
              <a:latin typeface="ＭＳ Ｐゴシック" pitchFamily="1" charset="-128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Mitigation:</a:t>
            </a:r>
            <a:r>
              <a:rPr lang="en-US">
                <a:latin typeface="Calibri"/>
                <a:ea typeface="Calibri"/>
                <a:cs typeface="Calibri"/>
              </a:rPr>
              <a:t> Forward error correction, integrity checks and retransmission when feasible.</a:t>
            </a:r>
            <a:endParaRPr lang="en-US">
              <a:latin typeface="ＭＳ Ｐゴシック" pitchFamily="1" charset="-128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Challenge — very low bitrate:</a:t>
            </a:r>
            <a:r>
              <a:rPr lang="en-US">
                <a:latin typeface="Calibri"/>
                <a:ea typeface="Calibri"/>
                <a:cs typeface="Calibri"/>
              </a:rPr>
              <a:t> Normal simultaneous phone-call </a:t>
            </a:r>
            <a:r>
              <a:rPr lang="en-US" err="1">
                <a:latin typeface="Calibri"/>
                <a:ea typeface="Calibri"/>
                <a:cs typeface="Calibri"/>
              </a:rPr>
              <a:t>behaviour</a:t>
            </a:r>
            <a:r>
              <a:rPr lang="en-US">
                <a:latin typeface="Calibri"/>
                <a:ea typeface="Calibri"/>
                <a:cs typeface="Calibri"/>
              </a:rPr>
              <a:t> is not possible. </a:t>
            </a:r>
            <a:endParaRPr lang="en-US">
              <a:latin typeface="ＭＳ Ｐゴシック" pitchFamily="1" charset="-128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Mitigation: </a:t>
            </a:r>
            <a:r>
              <a:rPr lang="en-US">
                <a:latin typeface="Calibri"/>
                <a:ea typeface="Calibri"/>
                <a:cs typeface="Calibri"/>
              </a:rPr>
              <a:t>Short push-to-talk messages and aggressive text/phonetic compression.</a:t>
            </a:r>
            <a:endParaRPr lang="en-US">
              <a:latin typeface="Calibri"/>
              <a:cs typeface="Calibri"/>
            </a:endParaRPr>
          </a:p>
        </p:txBody>
      </p:sp>
      <p:pic>
        <p:nvPicPr>
          <p:cNvPr id="5" name="Picture 4" descr="A logo for a smart hackathon&#10;&#10;AI-generated content may be incorrect.">
            <a:extLst>
              <a:ext uri="{FF2B5EF4-FFF2-40B4-BE49-F238E27FC236}">
                <a16:creationId xmlns:a16="http://schemas.microsoft.com/office/drawing/2014/main" id="{1C8BA9FF-C593-9573-4FE3-8690672F9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046" y="-2723"/>
            <a:ext cx="2352676" cy="11756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334C76-B63F-C0D4-4665-A34F8A973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584" y="1624694"/>
            <a:ext cx="5188404" cy="353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</a:t>
            </a:r>
            <a:r>
              <a:rPr lang="en-US">
                <a:solidFill>
                  <a:prstClr val="white"/>
                </a:solidFill>
              </a:rPr>
              <a:t>submission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ea typeface="Calibri"/>
                <a:cs typeface="Calibri"/>
              </a:rPr>
              <a:t>INFIX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AAE752-5A79-D22F-D358-893B0A826076}"/>
              </a:ext>
            </a:extLst>
          </p:cNvPr>
          <p:cNvSpPr txBox="1"/>
          <p:nvPr/>
        </p:nvSpPr>
        <p:spPr>
          <a:xfrm>
            <a:off x="1054395" y="1442040"/>
            <a:ext cx="10543952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"/>
                <a:ea typeface="Calibri"/>
                <a:cs typeface="Calibri"/>
              </a:rPr>
              <a:t>Disaster response:</a:t>
            </a:r>
            <a:r>
              <a:rPr lang="en-US" sz="2400">
                <a:latin typeface="Calibri"/>
                <a:ea typeface="Calibri"/>
                <a:cs typeface="Calibri"/>
              </a:rPr>
              <a:t> Voice-like communication when cellular towers/broadband are unavailable. </a:t>
            </a:r>
            <a:endParaRPr lang="en-US" sz="2400">
              <a:latin typeface="Calibri"/>
              <a:cs typeface="Calibri" pitchFamily="34" charset="0"/>
            </a:endParaRPr>
          </a:p>
          <a:p>
            <a:r>
              <a:rPr lang="en-US" sz="2400" b="1" err="1">
                <a:latin typeface="Calibri"/>
                <a:ea typeface="Calibri"/>
                <a:cs typeface="Calibri"/>
              </a:rPr>
              <a:t>Defence</a:t>
            </a:r>
            <a:r>
              <a:rPr lang="en-US" sz="2400" b="1">
                <a:latin typeface="Calibri"/>
                <a:ea typeface="Calibri"/>
                <a:cs typeface="Calibri"/>
              </a:rPr>
              <a:t> &amp; border areas:</a:t>
            </a:r>
            <a:r>
              <a:rPr lang="en-US" sz="2400">
                <a:latin typeface="Calibri"/>
                <a:ea typeface="Calibri"/>
                <a:cs typeface="Calibri"/>
              </a:rPr>
              <a:t> Natural-language communication over bandwidth-starved radio links. </a:t>
            </a:r>
            <a:endParaRPr lang="en-US" sz="2400">
              <a:latin typeface="ＭＳ Ｐゴシック" pitchFamily="1" charset="-128"/>
              <a:cs typeface="Calibri"/>
            </a:endParaRPr>
          </a:p>
          <a:p>
            <a:r>
              <a:rPr lang="en-US" sz="2400" b="1">
                <a:latin typeface="Calibri"/>
                <a:ea typeface="Calibri"/>
                <a:cs typeface="Calibri"/>
              </a:rPr>
              <a:t>Maritime safety: </a:t>
            </a:r>
            <a:r>
              <a:rPr lang="en-US" sz="2400">
                <a:latin typeface="Calibri"/>
                <a:ea typeface="Calibri"/>
                <a:cs typeface="Calibri"/>
              </a:rPr>
              <a:t>Communication for fishermen and coast-guard users over constrained radio. </a:t>
            </a:r>
            <a:endParaRPr lang="en-US" sz="2400">
              <a:latin typeface="ＭＳ Ｐゴシック" pitchFamily="1" charset="-128"/>
              <a:cs typeface="Calibri"/>
            </a:endParaRPr>
          </a:p>
          <a:p>
            <a:r>
              <a:rPr lang="en-US" sz="2400" b="1">
                <a:latin typeface="Calibri"/>
                <a:ea typeface="Calibri"/>
                <a:cs typeface="Calibri"/>
              </a:rPr>
              <a:t>Rural connectivity:</a:t>
            </a:r>
            <a:r>
              <a:rPr lang="en-US" sz="2400">
                <a:latin typeface="Calibri"/>
                <a:ea typeface="Calibri"/>
                <a:cs typeface="Calibri"/>
              </a:rPr>
              <a:t> Voice-like communication over LoRa or satellite-text tiers. </a:t>
            </a:r>
            <a:endParaRPr lang="en-US" sz="2400">
              <a:latin typeface="ＭＳ Ｐゴシック" pitchFamily="1" charset="-128"/>
              <a:cs typeface="Calibri"/>
            </a:endParaRPr>
          </a:p>
          <a:p>
            <a:r>
              <a:rPr lang="en-US" sz="2400" b="1">
                <a:latin typeface="Calibri"/>
                <a:ea typeface="Calibri"/>
                <a:cs typeface="Calibri"/>
              </a:rPr>
              <a:t>Social benefit: </a:t>
            </a:r>
            <a:r>
              <a:rPr lang="en-US" sz="2400">
                <a:latin typeface="Calibri"/>
                <a:ea typeface="Calibri"/>
                <a:cs typeface="Calibri"/>
              </a:rPr>
              <a:t>Reduces dependence on typing, especially during stressful situations.</a:t>
            </a:r>
            <a:endParaRPr lang="en-US" sz="2400">
              <a:latin typeface="ＭＳ Ｐゴシック" pitchFamily="1" charset="-128"/>
              <a:cs typeface="Calibri"/>
            </a:endParaRPr>
          </a:p>
          <a:p>
            <a:r>
              <a:rPr lang="en-US" sz="2400" b="1">
                <a:latin typeface="Calibri"/>
                <a:ea typeface="Calibri"/>
                <a:cs typeface="Calibri"/>
              </a:rPr>
              <a:t>Economic benefit:</a:t>
            </a:r>
            <a:r>
              <a:rPr lang="en-US" sz="2400">
                <a:latin typeface="Calibri"/>
                <a:ea typeface="Calibri"/>
                <a:cs typeface="Calibri"/>
              </a:rPr>
              <a:t> Works with low-bandwidth infrastructure instead of requiring continuous high-speed connectivity. </a:t>
            </a:r>
            <a:endParaRPr lang="en-US" sz="2400">
              <a:latin typeface="ＭＳ Ｐゴシック" pitchFamily="1" charset="-128"/>
              <a:cs typeface="Calibri"/>
            </a:endParaRPr>
          </a:p>
          <a:p>
            <a:r>
              <a:rPr lang="en-US" sz="2400" b="1">
                <a:latin typeface="Calibri"/>
                <a:ea typeface="Calibri"/>
                <a:cs typeface="Calibri"/>
              </a:rPr>
              <a:t>National value: </a:t>
            </a:r>
            <a:r>
              <a:rPr lang="en-US" sz="2400">
                <a:latin typeface="Calibri"/>
                <a:ea typeface="Calibri"/>
                <a:cs typeface="Calibri"/>
              </a:rPr>
              <a:t>Multilingual communication suited to India’s linguistic diversity and difficult-to-connect regions.</a:t>
            </a:r>
            <a:endParaRPr lang="en-US" sz="240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891F4C-C604-10E2-A50C-3C026C5C1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275" y="-2721"/>
            <a:ext cx="2627993" cy="143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</a:t>
            </a:r>
            <a:r>
              <a:rPr lang="en-US">
                <a:solidFill>
                  <a:prstClr val="white"/>
                </a:solidFill>
              </a:rPr>
              <a:t>submission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ea typeface="Calibri"/>
                <a:cs typeface="Calibri"/>
              </a:rPr>
              <a:t>INFIX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A3F761-6D5F-C99F-0082-09EA3EB7B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0789" y="-2721"/>
            <a:ext cx="2613479" cy="14233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335582-E660-D780-3D2E-A849BB96BE10}"/>
              </a:ext>
            </a:extLst>
          </p:cNvPr>
          <p:cNvSpPr txBox="1"/>
          <p:nvPr/>
        </p:nvSpPr>
        <p:spPr>
          <a:xfrm>
            <a:off x="862471" y="1534571"/>
            <a:ext cx="10621547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OpenAI Whisper – Robust multilingual speech recognition (Radford et al., 2022). github.com/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openai</a:t>
            </a:r>
            <a:r>
              <a:rPr lang="en-US" sz="2400" dirty="0">
                <a:latin typeface="Calibri"/>
                <a:ea typeface="Calibri"/>
                <a:cs typeface="Calibri"/>
              </a:rPr>
              <a:t>/whisper</a:t>
            </a:r>
            <a:endParaRPr lang="en-US" sz="24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Coqui TTS – Open-source multilingual neural text-to-speech with voice cloning. github.com/coqui-ai/TTS</a:t>
            </a:r>
            <a:endParaRPr lang="en-US" sz="24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Reed–Solomon Error Correction – Classical forward error correction used in QR codes, CDs, and satellite links; implemented via the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reedsolo</a:t>
            </a:r>
            <a:r>
              <a:rPr lang="en-US" sz="2400" dirty="0">
                <a:latin typeface="Calibri"/>
                <a:ea typeface="Calibri"/>
                <a:cs typeface="Calibri"/>
              </a:rPr>
              <a:t> library.</a:t>
            </a:r>
            <a:endParaRPr lang="en-US" sz="24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Codec2 – Open-source low-bitrate voice codec (~700bps), illustrating the compression ceiling of waveform-based approaches. rowetel.com/codec2.html</a:t>
            </a:r>
            <a:endParaRPr lang="en-US" sz="2400">
              <a:latin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AI4Bharat – Open Indian-language speech and NLP datasets/models. ai4bharat.org</a:t>
            </a:r>
            <a:endParaRPr lang="en-US" sz="2400">
              <a:latin typeface="Calibri"/>
              <a:cs typeface="Calibri"/>
            </a:endParaRPr>
          </a:p>
          <a:p>
            <a:pPr algn="l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submission- Template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A1C123-6671-81E1-6C9B-44CF21149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2332" y="-2721"/>
            <a:ext cx="3339193" cy="159747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43D084C-0A36-5826-D209-20E21E49FAD1}"/>
              </a:ext>
            </a:extLst>
          </p:cNvPr>
          <p:cNvSpPr/>
          <p:nvPr/>
        </p:nvSpPr>
        <p:spPr>
          <a:xfrm>
            <a:off x="898282" y="187568"/>
            <a:ext cx="1222131" cy="753209"/>
          </a:xfrm>
          <a:prstGeom prst="ellipse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ea typeface="Calibri"/>
                <a:cs typeface="Calibri"/>
              </a:rPr>
              <a:t>INFIX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534D34-E847-C0D3-0023-3486E2F29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1225" y="2028825"/>
            <a:ext cx="7829550" cy="28003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586F235-C04A-B161-50DE-BD4817F14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91440" tIns="45720" rIns="91440" bIns="45720" anchor="ctr"/>
          <a:lstStyle/>
          <a:p>
            <a:pPr algn="ctr">
              <a:defRPr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@SIH Idea submission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iTantra — Don’t Send Audio. Send Meaning.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revision>25</cp:revision>
  <dcterms:created xsi:type="dcterms:W3CDTF">2013-12-12T18:46:50Z</dcterms:created>
  <dcterms:modified xsi:type="dcterms:W3CDTF">2026-08-30T11:18:24Z</dcterms:modified>
  <cp:category/>
</cp:coreProperties>
</file>